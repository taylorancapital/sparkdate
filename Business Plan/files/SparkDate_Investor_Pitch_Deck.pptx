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Georgia"/>
              </a:rPr>
              <a:t>SparkDate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96167"/>
                </a:solidFill>
                <a:latin typeface="Georgia"/>
              </a:rPr>
              <a:t>Stop swiping. Start living.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experience-first dating platform reinventing how singles meet.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alibri"/>
              </a:rPr>
              <a:t>Seed Round  •  $130K  •  Philadelphia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The dating app crisis is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7B"/>
                </a:solidFill>
                <a:latin typeface="Calibri"/>
              </a:rPr>
              <a:t>An entire generation has stopped believing in swipe-based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74720" cy="347472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96167"/>
                </a:solidFill>
                <a:latin typeface="Georgia"/>
              </a:rP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23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of users report
dating app burnout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6B7B"/>
                </a:solidFill>
                <a:latin typeface="Calibri"/>
              </a:rPr>
              <a:t>Forbes Health,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474720" cy="347472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96167"/>
                </a:solidFill>
                <a:latin typeface="Georgia"/>
              </a:rP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023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of singles want
in-person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6B7B"/>
                </a:solidFill>
                <a:latin typeface="Calibri"/>
              </a:rPr>
              <a:t>Bumble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194560"/>
            <a:ext cx="3474720" cy="347472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5603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96167"/>
                </a:solidFill>
                <a:latin typeface="Georgia"/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4023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year-over-year
decline in installs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6B7B"/>
                </a:solidFill>
                <a:latin typeface="Calibri"/>
              </a:rPr>
              <a:t>Adjust,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7B"/>
                </a:solidFill>
                <a:latin typeface="Calibri"/>
              </a:rPr>
              <a:t>Tinder, Bumble, and Hinge are losing users. The model is broken.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A $13B market in transition.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7B"/>
                </a:solidFill>
                <a:latin typeface="Calibri"/>
              </a:rPr>
              <a:t>Incumbents are bleeding. The white space is in IRL connection.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MARKET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$13B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Global TAM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$3.2B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US Dating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109M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US Unpartnered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77%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Gen Z + Millennial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011680"/>
            <a:ext cx="475488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1945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THE STRUCTURAL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Digital → Real 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566160"/>
            <a:ext cx="4206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PURE: $100M revenue, 95% growth
• Thursday Events: 2M users, 150+ cities
• Timeleft: 200+ cities, $8-10/event
• Match Group cut 13% of staff in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We turn matches into meet-ups.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SparkDate curates real-life events where compatible singles meet face-to-face.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96167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Curated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Weekly mixers at premium venues. Algorithmically matched attendees. 25-40 people per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96167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Free Venues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2336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Bars/restaurants host for free in exchange for foot traffic. They make $10K/mo from F&amp;B.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4688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96167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Premium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2926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$34.99/mo for early access, free events, and curated follow-ups. ~7% conversion.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How it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7B"/>
                </a:solidFill>
                <a:latin typeface="Calibri"/>
              </a:rPr>
              <a:t>A simple three-sided marketplace: users, venues, and us.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User Signs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Free profile. Identity verified. Matching prefs set. Joins for $0.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Browse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88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Sees weekly curated events. Reads vibe, demographics, venue.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118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Buys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$25-150 depending on tier. Standard mixer to exclusive dinner.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7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5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Attends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79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Algorithm matches groups. Hosts facilitate. Drinks/food at venue.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5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49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Connects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394959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Exchanges contacts with matches. Optional premium follow-up.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Three revenue 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7B"/>
                </a:solidFill>
                <a:latin typeface="Calibri"/>
              </a:rPr>
              <a:t>Diversified monetization with the freemium venue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520440" cy="1371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52044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96167"/>
                </a:solidFill>
                <a:latin typeface="Georgia"/>
              </a:rPr>
              <a:t>44%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Event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$25 standard / $45-75 premium / $100-150 exclusive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520440" cy="13716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331720"/>
            <a:ext cx="352044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2F3C7E"/>
                </a:solidFill>
                <a:latin typeface="Georgia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11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Premium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1605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$34.99/mo or $249/yr. Early access + perks.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520440" cy="13716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52044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1A1A2E"/>
                </a:solidFill>
                <a:latin typeface="Georgia"/>
              </a:rP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11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Venue Subs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1605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$299/mo (M7+). Free M1-6 to drive adoption.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52160"/>
            <a:ext cx="1092708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E795"/>
                </a:solidFill>
                <a:latin typeface="Calibri"/>
              </a:rPr>
              <a:t>Year 1: $1.19M revenue  •  55% EBITDA margin  •  Breakeven Month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Why now. Why us. Why Philadelphia.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520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1945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Tinder Events launched March 2026 — incumbents validate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154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Match Group CEO admits dating apps are 'a numbers game'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1148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PURE doubled revenue while Tinder lost 1.3M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78% of users actively want an alternative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3520440" cy="45720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Freemium venue model: 80%+ adoption vs 30% paid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54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Gender-balance focus: target 50%+ female (industry: 25-35%)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Hyper-local launch playbook — depth over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Founder-operated. Full IP in operating company.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520440" cy="4572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WHY PHILLY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6+ month head start before NYC competitors expand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54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40-50% lower costs than NYC ($65-100K seed vs $300-500K)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Dense urban core: Rittenhouse, Old City, Fishtown, U-City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Underserved Gen Z/Millennial population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We win the white 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No competitor combines algorithmic matching, IRL events, and balanced gender ratios.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011680" cy="587828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74519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25188"/>
            <a:ext cx="201168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462348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13017"/>
            <a:ext cx="201168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3050177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Hinge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00845"/>
            <a:ext cx="201168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638005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Thursday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88674"/>
            <a:ext cx="201168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225834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Timeleft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76502"/>
            <a:ext cx="201168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4813662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Tinder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64331"/>
            <a:ext cx="2011680" cy="587828"/>
          </a:xfrm>
          <a:prstGeom prst="rect">
            <a:avLst/>
          </a:prstGeom>
          <a:solidFill>
            <a:srgbClr val="F9616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5401491"/>
            <a:ext cx="182880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SparkDate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737360"/>
            <a:ext cx="2560320" cy="587828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874519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325188"/>
            <a:ext cx="256032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462348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Swipe + subs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913017"/>
            <a:ext cx="256032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050177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Profile + subs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500845"/>
            <a:ext cx="256032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638005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Events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088674"/>
            <a:ext cx="256032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225834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Group dinners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676502"/>
            <a:ext cx="256032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4813662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Bolt-on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5264331"/>
            <a:ext cx="2560320" cy="587828"/>
          </a:xfrm>
          <a:prstGeom prst="rect">
            <a:avLst/>
          </a:prstGeom>
          <a:solidFill>
            <a:srgbClr val="F9616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5401491"/>
            <a:ext cx="2377439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IRL + matching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1737360"/>
            <a:ext cx="3200400" cy="587828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1874519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325188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462348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$1.94B / 60M MAU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913017"/>
            <a:ext cx="320040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3050177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$550M / 28% growth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500845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638005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2M users, 150 cities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4088674"/>
            <a:ext cx="320040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225834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200 cities, $8-10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4676502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4813662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Launched Mar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5264331"/>
            <a:ext cx="3200400" cy="587828"/>
          </a:xfrm>
          <a:prstGeom prst="rect">
            <a:avLst/>
          </a:prstGeom>
          <a:solidFill>
            <a:srgbClr val="F9616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5401491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Philly Q3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1737360"/>
            <a:ext cx="3200400" cy="587828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1874519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Vulnerability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325188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19" y="2462348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75% male, declining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2913017"/>
            <a:ext cx="320040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3050177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Still digital-first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500845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3638005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Shut down app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4088674"/>
            <a:ext cx="3200400" cy="587828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4225834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 dating-specific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676502"/>
            <a:ext cx="3200400" cy="5878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4813662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 core experience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5264331"/>
            <a:ext cx="3200400" cy="587828"/>
          </a:xfrm>
          <a:prstGeom prst="rect">
            <a:avLst/>
          </a:prstGeom>
          <a:solidFill>
            <a:srgbClr val="F9616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19" y="5401491"/>
            <a:ext cx="3017520" cy="404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Pre-launch —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Unit economics that compound.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20116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$10.20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9E795"/>
                </a:solidFill>
                <a:latin typeface="Calibri"/>
              </a:rPr>
              <a:t>Blended CAC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Industry: $4-25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60320" cy="20116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$475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9E795"/>
                </a:solidFill>
                <a:latin typeface="Calibri"/>
              </a:rPr>
              <a:t>Blended LTV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Industry: $50-150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560320" cy="20116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47:1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9E795"/>
                </a:solidFill>
                <a:latin typeface="Calibri"/>
              </a:rPr>
              <a:t>LTV:CAC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Healthy SaaS: 3:1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554480"/>
            <a:ext cx="2560320" cy="20116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8288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1.3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697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9E795"/>
                </a:solidFill>
                <a:latin typeface="Calibri"/>
              </a:rPr>
              <a:t>Payback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Industry: 12+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By Gender (because gender ratio drives the model)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43484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Female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3484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443484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Blended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0060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80060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80060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480060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$10.20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59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16635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$607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16635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$351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516635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$475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532120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19" y="5532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553212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32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0.9 mo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553212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532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1.9 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553212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19" y="5532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1.3 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897879"/>
            <a:ext cx="2743200" cy="365760"/>
          </a:xfrm>
          <a:prstGeom prst="rect">
            <a:avLst/>
          </a:prstGeom>
          <a:solidFill>
            <a:srgbClr val="1A1A2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19" y="58978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Premium Conv.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589787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58978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589787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8978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5897879"/>
            <a:ext cx="2743200" cy="365760"/>
          </a:xfrm>
          <a:prstGeom prst="rect">
            <a:avLst/>
          </a:prstGeom>
          <a:solidFill>
            <a:srgbClr val="F5F5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19" y="58978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~7%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Path to $1.19M ARR in Year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Breakeven Month 6. 55% EBITDA margin. Series A ready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60289"/>
            <a:ext cx="10972800" cy="18288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8892" y="5025542"/>
            <a:ext cx="365760" cy="34747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4652" y="5060289"/>
            <a:ext cx="365760" cy="265342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732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7937" y="4975001"/>
            <a:ext cx="365760" cy="852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73697" y="5060289"/>
            <a:ext cx="365760" cy="233753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0777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6982" y="4867600"/>
            <a:ext cx="365760" cy="192689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2742" y="5060289"/>
            <a:ext cx="365760" cy="202165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9822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6027" y="4624370"/>
            <a:ext cx="365760" cy="435919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71787" y="5060289"/>
            <a:ext cx="365760" cy="25270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8867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4248468"/>
            <a:ext cx="365760" cy="8118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4831273"/>
            <a:ext cx="365760" cy="229015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1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4116" y="3803072"/>
            <a:ext cx="365760" cy="125721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9876" y="4518549"/>
            <a:ext cx="365760" cy="5417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956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3161" y="3262911"/>
            <a:ext cx="365760" cy="1797377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8921" y="4122115"/>
            <a:ext cx="365760" cy="938174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6001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2206" y="2833309"/>
            <a:ext cx="365760" cy="2226979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7966" y="3711466"/>
            <a:ext cx="365760" cy="1348823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5046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1251" y="2425820"/>
            <a:ext cx="365760" cy="2634469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67011" y="3326088"/>
            <a:ext cx="365760" cy="1734201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4091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0296" y="2143104"/>
            <a:ext cx="365760" cy="2917185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056" y="3048110"/>
            <a:ext cx="365760" cy="201217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136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9341" y="1972527"/>
            <a:ext cx="365760" cy="308776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5101" y="2888589"/>
            <a:ext cx="365760" cy="217170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2181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8386" y="1797211"/>
            <a:ext cx="365760" cy="3263077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4146" y="2718012"/>
            <a:ext cx="365760" cy="2342277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1226" y="528888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M12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943600"/>
            <a:ext cx="274320" cy="1828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897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Revenue ($K)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5943600"/>
            <a:ext cx="274320" cy="1828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897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EBITDA ($K)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8978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A1A2E"/>
                </a:solidFill>
                <a:latin typeface="Calibri"/>
              </a:rPr>
              <a:t>Year 1 Total: $1,186,506 revenue  |  $651,706 EBITDA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Three phases to category leadership.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28600" cy="14173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10927080" cy="1417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Georgia"/>
              </a:rPr>
              <a:t>M1–M3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Georgia"/>
              </a:rPr>
              <a:t>Own Rittenhouse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40-50 founding members. 4→14 events/month. 8-15 free venues. CAC &lt;$18.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228600" cy="141732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54680"/>
            <a:ext cx="10927080" cy="1417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Georgia"/>
              </a:rPr>
              <a:t>M4–M6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375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Georgia"/>
              </a:rPr>
              <a:t>City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Old City + U-City + Fishtown. Mobile app launch. 18-22 venues. 25K users.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46320"/>
            <a:ext cx="228600" cy="141732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46320"/>
            <a:ext cx="10927080" cy="1417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Georgia"/>
              </a:rPr>
              <a:t>M7–M12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292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Georgia"/>
              </a:rPr>
              <a:t>Monetize &amp;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23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Calibri"/>
              </a:rPr>
              <a:t>$299/mo venue subs. Premium event tiers. 80K users. $149K monthly EBITDA.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Built by an operator.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7B"/>
                </a:solidFill>
                <a:latin typeface="Calibri"/>
              </a:rPr>
              <a:t>Lean by design. Hiring as we hit milestones, not before.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292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6167"/>
                </a:solidFill>
                <a:latin typeface="Calibri"/>
              </a:rPr>
              <a:t>President, Ancapital Group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480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Owns 100% of SparkDate IP via Ancapital Group LLC.
Operator-driven approach. Direct execution.
Philadelphia-based. Boots on the ground.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HIRING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Calibri"/>
              </a:rPr>
              <a:t>Trigger-based, not date-based.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743200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163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61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Community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P/T → F/T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246120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3192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644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Events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29183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Full-time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3749039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822191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67327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Operations Coordinator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79475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Full-time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4251960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3251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702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297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Part-time → F/T at M7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4754880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828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7731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Corporate Partnerships Mgr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800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Full-time</a:t>
            </a:r>
          </a:p>
        </p:txBody>
      </p:sp>
      <p:sp>
        <p:nvSpPr>
          <p:cNvPr id="32" name="Oval 31"/>
          <p:cNvSpPr/>
          <p:nvPr/>
        </p:nvSpPr>
        <p:spPr>
          <a:xfrm>
            <a:off x="6126480" y="5257800"/>
            <a:ext cx="50292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330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2760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Finance/Bookkeeping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3035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7B"/>
                </a:solidFill>
                <a:latin typeface="Calibri"/>
              </a:rPr>
              <a:t>Part-time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The 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Georgia"/>
              </a:rPr>
              <a:t>$130,000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Seed Round  •  Convertible Note or SAFE  •  Philadelphia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18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97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$50K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343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Founding team payroll (M1-M5)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634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$30K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Marketing &amp; community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$25K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74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Events operations &amp; venue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94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$15K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Mobile app MVP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760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$10K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Legal, insurance, working capital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Georgia"/>
              </a:rPr>
              <a:t>Let's build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96167"/>
                </a:solidFill>
                <a:latin typeface="Calibri"/>
              </a:rPr>
              <a:t>The dating market is broken.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96167"/>
                </a:solidFill>
                <a:latin typeface="Calibri"/>
              </a:rPr>
              <a:t>We're not fixing it. We're replacing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103327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[Your Name]  • 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Ancapital Group LLC  •  Philadelphia, 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[email]  •  [phone]  •  sparkdate.com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